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80" r:id="rId25"/>
    <p:sldId id="281" r:id="rId26"/>
    <p:sldId id="279" r:id="rId27"/>
    <p:sldId id="282" r:id="rId28"/>
    <p:sldId id="283" r:id="rId29"/>
    <p:sldId id="291" r:id="rId30"/>
    <p:sldId id="292" r:id="rId31"/>
    <p:sldId id="286" r:id="rId32"/>
    <p:sldId id="287" r:id="rId33"/>
    <p:sldId id="288" r:id="rId34"/>
    <p:sldId id="289" r:id="rId35"/>
    <p:sldId id="312" r:id="rId36"/>
    <p:sldId id="313" r:id="rId37"/>
    <p:sldId id="290" r:id="rId38"/>
    <p:sldId id="295" r:id="rId39"/>
    <p:sldId id="293" r:id="rId40"/>
    <p:sldId id="294" r:id="rId41"/>
    <p:sldId id="296" r:id="rId42"/>
    <p:sldId id="297" r:id="rId43"/>
    <p:sldId id="298" r:id="rId44"/>
    <p:sldId id="299" r:id="rId45"/>
    <p:sldId id="301" r:id="rId46"/>
    <p:sldId id="300" r:id="rId47"/>
    <p:sldId id="302" r:id="rId48"/>
    <p:sldId id="303" r:id="rId49"/>
    <p:sldId id="304" r:id="rId50"/>
    <p:sldId id="307" r:id="rId51"/>
    <p:sldId id="305" r:id="rId52"/>
    <p:sldId id="306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87F24-10B9-4EA8-9204-175EB3A54E66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D0126-F0E3-43AD-9FE9-2F19BF212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15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D0126-F0E3-43AD-9FE9-2F19BF2129D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028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4BF291-38BD-863C-60EB-AF9D067D8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2F05EC-7BA3-1688-684B-D3D826259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1BB152-6248-C165-5919-C347103C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2698EA-95C0-9104-DB89-0DEA20DE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EDEFEC-87D8-4B31-B159-A848A539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21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9AFAD-C25B-3E05-3497-D3D9AF74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CD45E-F259-6709-367E-A73970D80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E3A2C6-64D0-1EB2-1B3A-D809596A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82636B-7324-F1E9-EB70-F0FFD580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CA7594-F71F-F312-256B-C43B8A3D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34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00C0F-E1A9-D82B-2043-F72ABCAB6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0CFE52-3A5F-3AE8-7802-2D34ADB0E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D72D30-E6CE-A59D-BBB0-C1FF13A1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A0BCDC-7D50-1397-9DFA-79D0E3B42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F95C40-2504-FE5B-2A51-F90D015D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84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1F1F6-3535-0BD4-C8EB-BA67D3869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1D1757-A330-3FCA-DDF5-69D54DE7F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106FF4-DDF3-A0CB-0BCB-646510DFD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FCC45B-5A03-127D-F249-3551F89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2A14F2-2364-51BD-7353-106E05A4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EE0625-4758-4842-AF06-4EFBE9E8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310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2F6D9-1957-660D-92E6-4B9097B2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79A575-9B85-4376-1DF1-4F4F3A13E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C8012C-4496-67BD-AC4E-619248B6F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9E504E4-B657-5717-0996-97B0B5FB6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6816FA-EC6D-BD1C-EB27-9E91528D0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6EACA6-F2C2-81EF-1242-AE58CB63F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68453C0-191A-495E-27B2-6BB307B5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D72EE6-9CE6-48D5-2C19-B0724866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61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B5E95-4A0E-B76C-6BFE-9C496D19B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3D0D55E-952D-0BD4-D203-051EE9518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346E13-8115-D786-A2C7-01E773C9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4236D5-5836-3C04-10DD-3249CD32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03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6FFDDB4-34C7-FD2D-A1CF-51464A89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2C9CAE-F9DC-D4DF-2E83-4166FBA1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4BD8CC-722D-7C3C-34D6-BC1965E8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99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183DA-A575-3B00-9135-C07020E9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6DCC1C-D3A3-A844-4531-8D68CDC70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1F0AF69-340A-F59B-A804-2DB00CB87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9A1585-1C7D-9DEC-E5A8-30345085B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B62BE6-8304-CE94-AB64-DF1525C0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E921D9-1CD9-0608-4A19-0CA796D2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56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D3A17-817C-CE47-20BA-F417446AD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BCEEFA-B16B-9BA0-9BCE-7211A4CFB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164507-C435-85C4-32F6-1778A914D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825EC1-49AE-A0DB-442C-05EB9124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75D980-B473-442A-9E56-2DF162FF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95015-B045-0AEE-982D-B464A21B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33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1EAF4-36C8-8AF8-B3EA-92C98463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F0235C-C4BA-B399-C84B-8E9A0C002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35456E-9E90-2A41-D962-F82EF72B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DE72B4-1B91-7E22-6148-C79C0C48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E0085B-A556-10DE-D67B-EF92514D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36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ED692A-D632-275F-2AFB-593594AEF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F627E2-21E5-1FF5-2630-ED41ED62F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192E2F-0B4B-34DF-BB08-53D8C4EE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B4B2E5-1565-C9E8-5EE6-31FC1FEB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BC9DE-875D-E2CD-1147-BF6C5470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90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326CF-3352-85A0-BE12-3F1E71DB1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BF4D3F-EBE1-4BD4-B49D-E9FB43B37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7EAE4-2156-000F-A5B6-7D6FE5A5A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2CEE6-4BE1-4E52-B265-F82904825A1E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4D5579-2A23-2A38-BE67-25FB10245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297C60-223E-B9C6-40A6-75CCF19F0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B8450-4E1D-4209-A41E-4E9472B3C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9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728C3-2CBB-563B-801A-B256C2700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Нейронные сети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FAF935-8354-0E74-7C27-5EAD6FEC4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Подробное и исчерпывающее объяснение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десятков минут с матрицами, функциями, производными и схемами</a:t>
            </a:r>
          </a:p>
        </p:txBody>
      </p:sp>
    </p:spTree>
    <p:extLst>
      <p:ext uri="{BB962C8B-B14F-4D97-AF65-F5344CB8AC3E}">
        <p14:creationId xmlns:p14="http://schemas.microsoft.com/office/powerpoint/2010/main" val="1849622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7389E-D453-D4C9-6A07-66BAC40F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12E9CA-9172-5AC5-3CF3-6F57C60FB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AutoNum type="arabicPeriod"/>
            </a:pPr>
            <a:r>
              <a:rPr lang="ru-RU" dirty="0"/>
              <a:t>Объяснение идеи нейросетей</a:t>
            </a:r>
          </a:p>
          <a:p>
            <a:pPr marL="514350" indent="-514350" algn="just">
              <a:buAutoNum type="arabicPeriod"/>
            </a:pPr>
            <a:r>
              <a:rPr lang="ru-RU" dirty="0"/>
              <a:t>Небольшое объяснение линейной алгебры</a:t>
            </a:r>
          </a:p>
          <a:p>
            <a:pPr marL="514350" indent="-514350" algn="just">
              <a:buAutoNum type="arabicPeriod"/>
            </a:pPr>
            <a:r>
              <a:rPr lang="ru-RU" dirty="0"/>
              <a:t>Объяснение математики нейросетей и нотации</a:t>
            </a:r>
          </a:p>
          <a:p>
            <a:pPr marL="514350" indent="-514350" algn="just">
              <a:buAutoNum type="arabicPeriod"/>
            </a:pPr>
            <a:r>
              <a:rPr lang="ru-RU" dirty="0"/>
              <a:t>Объяснение кода</a:t>
            </a:r>
          </a:p>
          <a:p>
            <a:pPr marL="0" indent="0" algn="just">
              <a:buNone/>
            </a:pPr>
            <a:r>
              <a:rPr lang="en-US" dirty="0"/>
              <a:t>P.S.</a:t>
            </a:r>
            <a:r>
              <a:rPr lang="ru-RU" dirty="0"/>
              <a:t> Этот план предельно общий и суть отражает неглубоко, но достаточно, чтобы дать вам необходимые ожидания.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1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49B0F4-7C4A-A796-B158-9D2A413F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§ Что такое нейронные сети?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91E01C-F271-6697-98E5-5BB054204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42" y="1825625"/>
            <a:ext cx="6525087" cy="334168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i="1" dirty="0"/>
              <a:t>Нейронные сети – это связанные между собой слои нейронов. </a:t>
            </a:r>
          </a:p>
          <a:p>
            <a:pPr marL="0" indent="0" algn="just">
              <a:buNone/>
            </a:pPr>
            <a:endParaRPr lang="ru-RU" i="1" dirty="0"/>
          </a:p>
          <a:p>
            <a:pPr marL="0" indent="0" algn="just">
              <a:buNone/>
            </a:pPr>
            <a:r>
              <a:rPr lang="ru-RU" dirty="0"/>
              <a:t>Нейросеть:</a:t>
            </a:r>
          </a:p>
          <a:p>
            <a:pPr marL="457200" lvl="1" indent="0" algn="just">
              <a:buNone/>
            </a:pPr>
            <a:r>
              <a:rPr lang="ru-RU" sz="2800" dirty="0"/>
              <a:t>1. Принимает на вход набор чисел;</a:t>
            </a:r>
          </a:p>
          <a:p>
            <a:pPr marL="457200" lvl="1" indent="0" algn="just">
              <a:buNone/>
            </a:pPr>
            <a:r>
              <a:rPr lang="ru-RU" sz="2800" dirty="0"/>
              <a:t>2. Обрабатывает этот набор;</a:t>
            </a:r>
          </a:p>
          <a:p>
            <a:pPr marL="457200" lvl="1" indent="0" algn="just">
              <a:buNone/>
            </a:pPr>
            <a:r>
              <a:rPr lang="ru-RU" sz="2800" dirty="0"/>
              <a:t>3. Выдаёт на вход другой набор чисел, как результат.</a:t>
            </a:r>
          </a:p>
        </p:txBody>
      </p:sp>
      <p:pic>
        <p:nvPicPr>
          <p:cNvPr id="1026" name="Picture 2" descr="Что такое нейросеть (нейронная сеть)?">
            <a:extLst>
              <a:ext uri="{FF2B5EF4-FFF2-40B4-BE49-F238E27FC236}">
                <a16:creationId xmlns:a16="http://schemas.microsoft.com/office/drawing/2014/main" id="{C5DA08B7-F784-D03A-20FA-5889AD82B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029" y="1817132"/>
            <a:ext cx="5007745" cy="322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E728BE-C740-3790-5B37-DFD490341E91}"/>
                  </a:ext>
                </a:extLst>
              </p:cNvPr>
              <p:cNvSpPr txBox="1"/>
              <p:nvPr/>
            </p:nvSpPr>
            <p:spPr>
              <a:xfrm>
                <a:off x="346228" y="5175805"/>
                <a:ext cx="1140854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800" dirty="0"/>
                  <a:t>В общем: нейронная сеть – это отображение </a:t>
                </a:r>
                <a:r>
                  <a:rPr lang="en-US" sz="2800" i="1" dirty="0"/>
                  <a:t>F</a:t>
                </a:r>
                <a:r>
                  <a:rPr lang="en-US" sz="2800" dirty="0"/>
                  <a:t>(</a:t>
                </a:r>
                <a:r>
                  <a:rPr lang="en-US" sz="2800" i="1" dirty="0"/>
                  <a:t>X</a:t>
                </a:r>
                <a:r>
                  <a:rPr lang="en-US" sz="2800" dirty="0"/>
                  <a:t>)</a:t>
                </a:r>
                <a:r>
                  <a:rPr lang="ru-RU" sz="2800" dirty="0"/>
                  <a:t>, которое</a:t>
                </a:r>
                <a:r>
                  <a:rPr lang="en-US" sz="2800" dirty="0"/>
                  <a:t> </a:t>
                </a:r>
                <a:r>
                  <a:rPr lang="ru-RU" sz="2800" dirty="0"/>
                  <a:t>переводит набор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sz="2800" dirty="0"/>
                  <a:t> в набор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sz="2800" dirty="0"/>
                  <a:t>.</a:t>
                </a:r>
              </a:p>
              <a:p>
                <a:pPr algn="just"/>
                <a:r>
                  <a:rPr lang="ru-RU" sz="2800" dirty="0"/>
                  <a:t>Обратите внимание, что длины наборов могут не совпадать!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E728BE-C740-3790-5B37-DFD490341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28" y="5175805"/>
                <a:ext cx="11408545" cy="1384995"/>
              </a:xfrm>
              <a:prstGeom prst="rect">
                <a:avLst/>
              </a:prstGeom>
              <a:blipFill>
                <a:blip r:embed="rId3"/>
                <a:stretch>
                  <a:fillRect l="-1122" t="-3965" r="-1069" b="-118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08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A9264-9C5D-D1B1-EAB4-67EBD227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нейрон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AE7750-2C35-92DF-B0DC-CFBE7A94E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086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Нейрон суммирует все свои входы, обрабатывает сумму и шлёт результат дальше! Таких нейронов в сетях сотни. </a:t>
            </a:r>
          </a:p>
        </p:txBody>
      </p:sp>
      <p:pic>
        <p:nvPicPr>
          <p:cNvPr id="5" name="Рисунок 4" descr="Изображение выглядит как Шрифт, символ, текс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4A8B03-C00B-814F-8996-729F29D97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320" y="2869259"/>
            <a:ext cx="7107360" cy="1865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43E011-71DB-ED1A-E902-CDBFFCE3AB18}"/>
                  </a:ext>
                </a:extLst>
              </p:cNvPr>
              <p:cNvSpPr txBox="1"/>
              <p:nvPr/>
            </p:nvSpPr>
            <p:spPr>
              <a:xfrm>
                <a:off x="838200" y="4734311"/>
                <a:ext cx="105156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800" dirty="0"/>
                  <a:t>Внутреннее преобразование можно как угодно задавать, а также как-либо управлять силой входного-выходного сигнала, домножая его на какие-нибудь числа (например, Что-то</a:t>
                </a:r>
                <a14:m>
                  <m:oMath xmlns:m="http://schemas.openxmlformats.org/officeDocument/2006/math">
                    <m:r>
                      <a:rPr 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sz="2800" dirty="0"/>
                  <a:t>, преобразовали, преобразовали</a:t>
                </a:r>
                <a14:m>
                  <m:oMath xmlns:m="http://schemas.openxmlformats.org/officeDocument/2006/math">
                    <m:r>
                      <a:rPr lang="ru-R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800" dirty="0"/>
                  <a:t>Что-то иное).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43E011-71DB-ED1A-E902-CDBFFCE3A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34311"/>
                <a:ext cx="10515600" cy="1815882"/>
              </a:xfrm>
              <a:prstGeom prst="rect">
                <a:avLst/>
              </a:prstGeom>
              <a:blipFill>
                <a:blip r:embed="rId3"/>
                <a:stretch>
                  <a:fillRect l="-1217" t="-3356" r="-1159" b="-87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07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845A82-2A16-0F7A-8CCB-D54BC824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нейросети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4D7C61-9C72-7A94-A88A-F2B5A4277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58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Рассмотрим простейший перцептрон. Чёрные 0.5 и 0.7 – здесь числа, которые идут на вход, а не веса!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B68F77-D7ED-713B-7EC9-5C64D79A1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841" y="2361460"/>
            <a:ext cx="8272317" cy="427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17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4AAB3-19FE-5AD9-F431-4BAE82CB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Давайте просчитаем перцептрон!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7AE6C80-9F20-46FE-3676-AEF5CC4908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438313" cy="360750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i="1" dirty="0"/>
                  <a:t>Пока без преобразований в нейронах!</a:t>
                </a:r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:r>
                  <a:rPr lang="en-US" dirty="0"/>
                  <a:t>y_1</a:t>
                </a:r>
                <a:r>
                  <a:rPr lang="ru-RU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:r>
                  <a:rPr lang="en-US" dirty="0"/>
                  <a:t>y_2</a:t>
                </a:r>
                <a:r>
                  <a:rPr lang="ru-RU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:r>
                  <a:rPr lang="en-US" dirty="0"/>
                  <a:t>z_1</a:t>
                </a:r>
                <a:r>
                  <a:rPr lang="ru-RU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7AE6C80-9F20-46FE-3676-AEF5CC490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438313" cy="3607509"/>
              </a:xfrm>
              <a:blipFill>
                <a:blip r:embed="rId2"/>
                <a:stretch>
                  <a:fillRect l="-2354" t="-27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EBA2F1-B916-B20A-D5AB-31234BC06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513" y="1825624"/>
            <a:ext cx="5819129" cy="3003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FFC601-67A1-0464-6E88-6398D07C80BB}"/>
              </a:ext>
            </a:extLst>
          </p:cNvPr>
          <p:cNvSpPr txBox="1"/>
          <p:nvPr/>
        </p:nvSpPr>
        <p:spPr>
          <a:xfrm>
            <a:off x="782836" y="5568071"/>
            <a:ext cx="10626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Вручную так считать очень просто, но что если нейронов о-о-очень много? Здесь нам поможет линейная алгебра!</a:t>
            </a:r>
          </a:p>
        </p:txBody>
      </p:sp>
    </p:spTree>
    <p:extLst>
      <p:ext uri="{BB962C8B-B14F-4D97-AF65-F5344CB8AC3E}">
        <p14:creationId xmlns:p14="http://schemas.microsoft.com/office/powerpoint/2010/main" val="149204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EE334-9121-DC42-C80F-BE539DD5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Линейная алгебра: матрицы и векторы!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4457F0-5C09-1DB4-4CCF-58750C7C6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4973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ru-RU" sz="5900" dirty="0"/>
              <a:t>Векторы – это строки/столбцы с числами, для которых определены алгебраические операции.</a:t>
            </a:r>
          </a:p>
          <a:p>
            <a:pPr marL="0" indent="0" algn="just">
              <a:buNone/>
            </a:pPr>
            <a:endParaRPr lang="ru-RU" sz="5900" dirty="0"/>
          </a:p>
          <a:p>
            <a:pPr marL="0" indent="0" algn="just">
              <a:buNone/>
            </a:pPr>
            <a:r>
              <a:rPr lang="ru-RU" sz="5900" dirty="0"/>
              <a:t>Матрицы – это таблицы с числами, то есть стопки векторов, для которых определены алгебраические операции.</a:t>
            </a:r>
          </a:p>
          <a:p>
            <a:pPr marL="0" indent="0" algn="just">
              <a:buNone/>
            </a:pPr>
            <a:endParaRPr lang="ru-RU" sz="5900" dirty="0"/>
          </a:p>
          <a:p>
            <a:pPr marL="0" indent="0" algn="just">
              <a:buNone/>
            </a:pPr>
            <a:r>
              <a:rPr lang="ru-RU" sz="5900" dirty="0"/>
              <a:t>Матрицы и векторы позволяют компактно записать то, что происходит в нейросети!</a:t>
            </a:r>
          </a:p>
          <a:p>
            <a:pPr marL="0" indent="0" algn="just">
              <a:buNone/>
            </a:pPr>
            <a:endParaRPr lang="ru-RU" sz="5900" dirty="0"/>
          </a:p>
          <a:p>
            <a:pPr marL="0" indent="0" algn="just">
              <a:buNone/>
            </a:pPr>
            <a:r>
              <a:rPr lang="ru-RU" sz="5900" dirty="0"/>
              <a:t>ТАК КАК НА ВХОДЕ/ВЫХОДЕ КАЖДОГО СЛОЯ ИМЕЕМ ВЕКТОР, ТО НАМ НУЖНА ОПЕРАЦИЯ ДОМНОЖЕНИЯ МАТРИЦЫ НА ВЕКТОР!</a:t>
            </a:r>
          </a:p>
          <a:p>
            <a:pPr marL="0" indent="0" algn="just">
              <a:buNone/>
            </a:pPr>
            <a:endParaRPr lang="ru-RU" sz="5900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3180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# .Net: Умножение матрицы на вектор - programm.top">
            <a:extLst>
              <a:ext uri="{FF2B5EF4-FFF2-40B4-BE49-F238E27FC236}">
                <a16:creationId xmlns:a16="http://schemas.microsoft.com/office/drawing/2014/main" id="{03550D31-DB87-9D8C-DAB6-90D14E197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605" y="1692718"/>
            <a:ext cx="9104790" cy="200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8A56D1-0D92-A4B9-BBAB-0278C9B72631}"/>
              </a:ext>
            </a:extLst>
          </p:cNvPr>
          <p:cNvSpPr txBox="1"/>
          <p:nvPr/>
        </p:nvSpPr>
        <p:spPr>
          <a:xfrm>
            <a:off x="356587" y="923277"/>
            <a:ext cx="114788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Домножение матрицы на вектор выглядит так: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2630B3-0514-2FEA-9ED9-72DD4AB9762F}"/>
              </a:ext>
            </a:extLst>
          </p:cNvPr>
          <p:cNvSpPr txBox="1"/>
          <p:nvPr/>
        </p:nvSpPr>
        <p:spPr>
          <a:xfrm>
            <a:off x="356587" y="4110361"/>
            <a:ext cx="114788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А вот вектор на матрицу домножать нельзя! По крайней мере, такая операция не определена и нам, к счастью, не потребуется.</a:t>
            </a:r>
            <a:endParaRPr lang="en-US" sz="2800" dirty="0"/>
          </a:p>
          <a:p>
            <a:pPr algn="just"/>
            <a:r>
              <a:rPr lang="en-US" sz="2800" dirty="0"/>
              <a:t>P.S.</a:t>
            </a:r>
            <a:r>
              <a:rPr lang="ru-RU" sz="2800" dirty="0"/>
              <a:t> На самом деле нечто подобное определено и мы с этим столкнёмся.</a:t>
            </a:r>
          </a:p>
        </p:txBody>
      </p:sp>
    </p:spTree>
    <p:extLst>
      <p:ext uri="{BB962C8B-B14F-4D97-AF65-F5344CB8AC3E}">
        <p14:creationId xmlns:p14="http://schemas.microsoft.com/office/powerpoint/2010/main" val="102641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CAF83-6CF4-06D6-D23A-FE23A091F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Сравните вычисления с операцией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58B83A-34B0-C3FD-3DBC-75A071FFF760}"/>
                  </a:ext>
                </a:extLst>
              </p:cNvPr>
              <p:cNvSpPr txBox="1"/>
              <p:nvPr/>
            </p:nvSpPr>
            <p:spPr>
              <a:xfrm>
                <a:off x="838199" y="1497612"/>
                <a:ext cx="4696471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2800" dirty="0"/>
                  <a:t>Для </a:t>
                </a:r>
                <a:r>
                  <a:rPr lang="en-US" sz="2800" dirty="0"/>
                  <a:t>y_1</a:t>
                </a:r>
                <a:r>
                  <a:rPr lang="ru-RU" sz="2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ru-R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ru-R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ru-R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ru-RU" sz="2800" dirty="0"/>
                  <a:t>Для </a:t>
                </a:r>
                <a:r>
                  <a:rPr lang="en-US" sz="2800" dirty="0"/>
                  <a:t>y_2</a:t>
                </a:r>
                <a:r>
                  <a:rPr lang="ru-RU" sz="2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r>
                        <a:rPr lang="ru-R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ru-RU" sz="2800" dirty="0"/>
                  <a:t>Для </a:t>
                </a:r>
                <a:r>
                  <a:rPr lang="en-US" sz="2800" dirty="0"/>
                  <a:t>z_1</a:t>
                </a:r>
                <a:r>
                  <a:rPr lang="ru-RU" sz="2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ru-R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58B83A-34B0-C3FD-3DBC-75A071FFF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497612"/>
                <a:ext cx="4696471" cy="2677656"/>
              </a:xfrm>
              <a:prstGeom prst="rect">
                <a:avLst/>
              </a:prstGeom>
              <a:blipFill>
                <a:blip r:embed="rId2"/>
                <a:stretch>
                  <a:fillRect l="-2594" t="-2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D15443-0387-ED30-D1E9-AAA4B89C7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671" y="1690688"/>
            <a:ext cx="5819129" cy="3003827"/>
          </a:xfrm>
          <a:prstGeom prst="rect">
            <a:avLst/>
          </a:prstGeom>
        </p:spPr>
      </p:pic>
      <p:pic>
        <p:nvPicPr>
          <p:cNvPr id="6" name="Picture 2" descr="C# .Net: Умножение матрицы на вектор - programm.top">
            <a:extLst>
              <a:ext uri="{FF2B5EF4-FFF2-40B4-BE49-F238E27FC236}">
                <a16:creationId xmlns:a16="http://schemas.microsoft.com/office/drawing/2014/main" id="{4C720AE4-C5BA-3A0D-C1D0-125F3ADD1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605" y="4694515"/>
            <a:ext cx="9104790" cy="200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875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1DF03-0AD2-BCC2-FAB1-0CAE1C552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Матрицы в нейронных сетях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8D6FD52-9EEA-7292-B7A1-E42EE616A1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52386" cy="37850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Матрица весов первого слоя: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sz="2600" dirty="0"/>
                  <a:t>Обозначение путей к нейронам:</a:t>
                </a:r>
                <a:endParaRPr lang="en-US" sz="260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8D6FD52-9EEA-7292-B7A1-E42EE616A1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52386" cy="3785062"/>
              </a:xfrm>
              <a:blipFill>
                <a:blip r:embed="rId2"/>
                <a:stretch>
                  <a:fillRect l="-2642" t="-25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E227D8-F3BB-FA3D-16AB-25DF677C0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586" y="1825625"/>
            <a:ext cx="5819129" cy="3003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C71A04-3BF0-9646-CE8D-8F4ABFC0C19D}"/>
              </a:ext>
            </a:extLst>
          </p:cNvPr>
          <p:cNvSpPr txBox="1"/>
          <p:nvPr/>
        </p:nvSpPr>
        <p:spPr>
          <a:xfrm flipH="1">
            <a:off x="516754" y="5610687"/>
            <a:ext cx="111584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Есть закономерность: каждая строка содержит веса путей в нейрон следующего слоя с её номером!</a:t>
            </a:r>
          </a:p>
          <a:p>
            <a:pPr algn="ctr"/>
            <a:r>
              <a:rPr lang="ru-RU" sz="2000" dirty="0"/>
              <a:t>ТО ЕСТЬ ЧИСЛА В ПЕРВОЙ СТРОКЕ – ВЕСА В ПЕРВЫЙ НЕЙРОН, ВО ВТОРОЙ – ВО ВТОРОЙ И ТАК ДАЛЕЕ!</a:t>
            </a:r>
          </a:p>
          <a:p>
            <a:pPr algn="ctr"/>
            <a:r>
              <a:rPr lang="ru-RU" sz="2000" dirty="0"/>
              <a:t>Номера же столбцов указывают на номера исходящих нейронов! </a:t>
            </a:r>
          </a:p>
        </p:txBody>
      </p:sp>
    </p:spTree>
    <p:extLst>
      <p:ext uri="{BB962C8B-B14F-4D97-AF65-F5344CB8AC3E}">
        <p14:creationId xmlns:p14="http://schemas.microsoft.com/office/powerpoint/2010/main" val="233936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9AA02F-3DCB-FE3D-41FC-6BC15D25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Упражнение на вычисление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FD5C3A-C7CF-2CD6-F82B-23DFE40ED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58022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Вычислите результат работы уже рассмотренного перцептрона.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6B6286-B2A4-C5A9-6DBE-AD95D2D64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05850"/>
            <a:ext cx="5819129" cy="300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6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413EE-FAFE-D386-F288-636D44B1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B8E37-21DB-4CA3-7FA5-5A27841B5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Упражнение на вычисление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A0A386-3C7C-03DA-63C9-8FA9F634C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58022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Вычислите результат работы уже рассмотренного перцептрона.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CD6C7E-E5E6-E836-5CC5-E4A9F6E29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05850"/>
            <a:ext cx="5819129" cy="3003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3DE392-A8C5-94E0-0BE6-E825BA64F62E}"/>
                  </a:ext>
                </a:extLst>
              </p:cNvPr>
              <p:cNvSpPr txBox="1"/>
              <p:nvPr/>
            </p:nvSpPr>
            <p:spPr>
              <a:xfrm>
                <a:off x="829322" y="2689934"/>
                <a:ext cx="5429435" cy="233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Вход во второй слой: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.5×1+3×0.7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−2×0.5+4×0.7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.5+2.5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−1+2.8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3DE392-A8C5-94E0-0BE6-E825BA64F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22" y="2689934"/>
                <a:ext cx="5429435" cy="2330318"/>
              </a:xfrm>
              <a:prstGeom prst="rect">
                <a:avLst/>
              </a:prstGeom>
              <a:blipFill>
                <a:blip r:embed="rId3"/>
                <a:stretch>
                  <a:fillRect l="-1684" t="-20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1E77D6-4B5F-50EC-7A48-D733604EC1B1}"/>
                  </a:ext>
                </a:extLst>
              </p:cNvPr>
              <p:cNvSpPr txBox="1"/>
              <p:nvPr/>
            </p:nvSpPr>
            <p:spPr>
              <a:xfrm>
                <a:off x="838200" y="5020252"/>
                <a:ext cx="10515599" cy="1804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Результат нейросети: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.5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0.3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=0.5×2.6+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0.3×1.8=1.3+0.54=1.84</m:t>
                      </m:r>
                    </m:oMath>
                  </m:oMathPara>
                </a14:m>
                <a:endParaRPr lang="ru-RU" sz="24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1E77D6-4B5F-50EC-7A48-D733604EC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20252"/>
                <a:ext cx="10515599" cy="1804468"/>
              </a:xfrm>
              <a:prstGeom prst="rect">
                <a:avLst/>
              </a:prstGeom>
              <a:blipFill>
                <a:blip r:embed="rId4"/>
                <a:stretch>
                  <a:fillRect l="-928" t="-27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812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E6A4B-A556-EE87-0EE2-39DF294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активации в нейронах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77E7A-F867-116F-F4C4-FD089E213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/>
              <a:t>Существует много функций активации нейронов. Эти функции преобразуют как-нибудь входное значение. 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В текстах сказано, что </a:t>
            </a:r>
            <a:r>
              <a:rPr lang="ru-RU" i="1" dirty="0"/>
              <a:t>функции активации, обычно, имеют область значений на отрезке от нуля до единицы</a:t>
            </a:r>
            <a:r>
              <a:rPr lang="ru-RU" dirty="0"/>
              <a:t>, но такое ограничение можно и не соблюдать – математика не разрушится (одну из таких функций мы будем использовать, и уже использовали, просто не говорили об этом).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Хорошая функция – та, от которой легко брать производную! Почему? Потому что дальше мы будем заниматься алгоритмом оптимизации нейронной сети, то есть её обучением, а там, где задача оптимизации, всегда прячется дифференцирование!</a:t>
            </a:r>
          </a:p>
        </p:txBody>
      </p:sp>
    </p:spTree>
    <p:extLst>
      <p:ext uri="{BB962C8B-B14F-4D97-AF65-F5344CB8AC3E}">
        <p14:creationId xmlns:p14="http://schemas.microsoft.com/office/powerpoint/2010/main" val="3819933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AD7B5-2260-F34B-722B-5E52AF27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активации и их графики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02E50D-4D3B-A270-2F0A-011F3B43D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025" y="1454150"/>
            <a:ext cx="645795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87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79916-490B-43E0-815A-26030F8B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нотации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05FFDAF-065D-EE8E-89A8-BAEA00B90F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53691" cy="4877016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Перед тем, как перейдём к оптимизации сетей, вспомним нотацию из анализа.</a:t>
                </a:r>
              </a:p>
              <a:p>
                <a:pPr marL="0" indent="0" algn="just">
                  <a:buNone/>
                </a:pPr>
                <a:r>
                  <a:rPr lang="ru-RU" dirty="0"/>
                  <a:t>Нам нужны частные производные, чтобы управляться с ростом функции. </a:t>
                </a:r>
              </a:p>
              <a:p>
                <a:pPr marL="0" indent="0" algn="just">
                  <a:buNone/>
                </a:pPr>
                <a:r>
                  <a:rPr lang="ru-RU" dirty="0"/>
                  <a:t>Допустим, есть функция двух переменных: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ru-RU" dirty="0"/>
                  <a:t>. Тогда частные производные: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Градиентом будет просто вектор</a:t>
                </a:r>
                <a:r>
                  <a:rPr lang="en-US" dirty="0"/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grad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Градиент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grad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или же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– это вектор</a:t>
                </a:r>
                <a:r>
                  <a:rPr lang="en-US" dirty="0"/>
                  <a:t>,</a:t>
                </a:r>
                <a:r>
                  <a:rPr lang="ru-RU" dirty="0"/>
                  <a:t> который показывает направление наискорейшего роста функции в точке, а его длина равна скорости этого роста.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05FFDAF-065D-EE8E-89A8-BAEA00B90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53691" cy="4877016"/>
              </a:xfrm>
              <a:blipFill>
                <a:blip r:embed="rId2"/>
                <a:stretch>
                  <a:fillRect l="-955" t="-1873" r="-9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989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5615B-E774-78C2-09E7-46CF2E02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Найдите градиенты 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20990D0-D720-0E4B-DB47-93A9EE325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20990D0-D720-0E4B-DB47-93A9EE325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403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8E202-AC14-196A-F2C7-539E90E1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C5304-3CBD-93C6-C382-25ABC449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Найдите градиенты 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B0FD775-5621-F051-12DF-2FC179740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B0FD775-5621-F051-12DF-2FC179740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881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2A847-D6C3-63CF-1F86-B82393C7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 найдём напоследок производную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C350C85-1AF9-98EA-CEDF-17FA6D77C3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7870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Функция: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sup>
                    </m:sSup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C350C85-1AF9-98EA-CEDF-17FA6D77C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7870"/>
                <a:ext cx="10515600" cy="4351338"/>
              </a:xfrm>
              <a:blipFill>
                <a:blip r:embed="rId2"/>
                <a:stretch>
                  <a:fillRect l="-1217" t="-18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520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CED3C-6F7F-6D03-A210-C01F52E6F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DD23E-9B05-3C2E-A075-173AEA45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 найдём напоследок производную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9CB369E-5BE2-0B80-9A43-04E66BEAF9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6755" y="1695759"/>
                <a:ext cx="11158490" cy="479711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Функция: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ru-RU" dirty="0"/>
                  <a:t>(т.к.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ru-RU" dirty="0"/>
                  <a:t>Этот пример учит нас тому, что результатом взятия производной от сколь угодно большого числа применений функций к функциям будет произведение некоторых функций!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9CB369E-5BE2-0B80-9A43-04E66BEAF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755" y="1695759"/>
                <a:ext cx="11158490" cy="4797116"/>
              </a:xfrm>
              <a:blipFill>
                <a:blip r:embed="rId2"/>
                <a:stretch>
                  <a:fillRect l="-1148" t="-889" r="-10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276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69E71-5801-7505-C8EF-BD5D51AE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мы сейчас достигли?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E3E285-752E-01D1-5626-614BEFA56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2398" cy="4351338"/>
          </a:xfrm>
        </p:spPr>
        <p:txBody>
          <a:bodyPr/>
          <a:lstStyle/>
          <a:p>
            <a:pPr algn="just"/>
            <a:r>
              <a:rPr lang="ru-RU" dirty="0"/>
              <a:t>Мы можем вычислять движения сигналов через матрицы.</a:t>
            </a:r>
          </a:p>
          <a:p>
            <a:pPr algn="just"/>
            <a:r>
              <a:rPr lang="ru-RU" dirty="0"/>
              <a:t>Мы знаем про функции активации и можем брать их производные.</a:t>
            </a:r>
          </a:p>
          <a:p>
            <a:pPr algn="just"/>
            <a:r>
              <a:rPr lang="ru-RU" dirty="0"/>
              <a:t>Мы можем находить градиенты функций.</a:t>
            </a:r>
          </a:p>
          <a:p>
            <a:pPr marL="0" indent="0" algn="just">
              <a:buNone/>
            </a:pPr>
            <a:r>
              <a:rPr lang="ru-RU" dirty="0"/>
              <a:t>Фактически, этого уже достаточно, чтобы работать с нейронными сетями!</a:t>
            </a:r>
          </a:p>
        </p:txBody>
      </p:sp>
      <p:pic>
        <p:nvPicPr>
          <p:cNvPr id="5" name="Рисунок 4" descr="Изображение выглядит как текст, Шрифт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B65E0C-EECF-D50F-001D-B4B08B53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11985">
            <a:off x="7219764" y="1825625"/>
            <a:ext cx="3648722" cy="1388628"/>
          </a:xfrm>
          <a:prstGeom prst="rect">
            <a:avLst/>
          </a:prstGeom>
          <a:ln w="19050">
            <a:solidFill>
              <a:schemeClr val="tx1"/>
            </a:solidFill>
            <a:prstDash val="solid"/>
          </a:ln>
        </p:spPr>
      </p:pic>
      <p:pic>
        <p:nvPicPr>
          <p:cNvPr id="7" name="Рисунок 6" descr="Изображение выглядит как текст, Шрифт, белый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DFDD10-2DF5-93D8-B78A-3826402EE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48187">
            <a:off x="6927996" y="3449441"/>
            <a:ext cx="4719129" cy="13504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Рисунок 8" descr="Изображение выглядит как текст, рукописный текст, Шриф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F3E5E2-F5A7-7E5A-C32C-B2FD7B1FE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98312">
            <a:off x="7548881" y="4873409"/>
            <a:ext cx="3736044" cy="1408235"/>
          </a:xfrm>
          <a:prstGeom prst="rect">
            <a:avLst/>
          </a:prstGeom>
          <a:ln w="19050"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958600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C6AE1-400C-4466-A8D5-1C074277A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пауза на отдых и вопросы</a:t>
            </a:r>
          </a:p>
        </p:txBody>
      </p:sp>
      <p:pic>
        <p:nvPicPr>
          <p:cNvPr id="1028" name="Picture 4" descr="Lotus Flower Thangka - 8 Auspicious Symbol – Lucky Thanka">
            <a:extLst>
              <a:ext uri="{FF2B5EF4-FFF2-40B4-BE49-F238E27FC236}">
                <a16:creationId xmlns:a16="http://schemas.microsoft.com/office/drawing/2014/main" id="{9B279442-A474-4577-D9C0-13E8D0CC7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835" y="1654545"/>
            <a:ext cx="4838330" cy="483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965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F546-85DF-EF2B-6326-70C01A26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50570-B456-755E-04D8-00250716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результаты</a:t>
            </a:r>
          </a:p>
        </p:txBody>
      </p:sp>
      <p:pic>
        <p:nvPicPr>
          <p:cNvPr id="3" name="Рисунок 2" descr="Изображение выглядит как текст, Шрифт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4DB0B7-2E40-A9F7-2970-914EB5789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640" y="1690688"/>
            <a:ext cx="6069082" cy="2309767"/>
          </a:xfrm>
          <a:prstGeom prst="rect">
            <a:avLst/>
          </a:prstGeom>
          <a:ln w="19050">
            <a:solidFill>
              <a:schemeClr val="tx1"/>
            </a:solidFill>
            <a:prstDash val="solid"/>
          </a:ln>
        </p:spPr>
      </p:pic>
      <p:pic>
        <p:nvPicPr>
          <p:cNvPr id="4" name="Рисунок 3" descr="Изображение выглядит как текст, рукописный текст, Шриф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8FA1FDF-56D4-827E-7CAD-851DCD093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678" y="4083296"/>
            <a:ext cx="3736044" cy="1408235"/>
          </a:xfrm>
          <a:prstGeom prst="rect">
            <a:avLst/>
          </a:prstGeom>
          <a:ln w="19050">
            <a:solidFill>
              <a:schemeClr val="tx1"/>
            </a:solidFill>
            <a:prstDash val="solid"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C0BCCD-F197-6B06-FFA9-DBBEFBB10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78" y="1690688"/>
            <a:ext cx="5583016" cy="435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82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FAB42-2872-F9FD-D472-4784BD87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§  То, чему пока нет нормальных объяснений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63032A-730D-0943-510F-15441DCB2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497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Нейронная сеть может быть оптимизирована различными способами (генетический алгоритм, подбор весов…). Общераспространённый способ – это метод градиентного спуска.</a:t>
            </a:r>
          </a:p>
          <a:p>
            <a:pPr marL="514350" indent="-514350" algn="just">
              <a:buAutoNum type="arabicPeriod"/>
            </a:pPr>
            <a:r>
              <a:rPr lang="ru-RU" dirty="0"/>
              <a:t>Для каждого нейрона высчитывается градиент функции ошибки (каждый нейрон полагается функцией).</a:t>
            </a:r>
          </a:p>
          <a:p>
            <a:pPr marL="514350" indent="-514350" algn="just">
              <a:buAutoNum type="arabicPeriod"/>
            </a:pPr>
            <a:r>
              <a:rPr lang="ru-RU" dirty="0"/>
              <a:t>Этот градиент домножается на скорость обучения (число порядка 0.1 – 0.001).</a:t>
            </a:r>
          </a:p>
          <a:p>
            <a:pPr marL="514350" indent="-514350" algn="just">
              <a:buAutoNum type="arabicPeriod"/>
            </a:pPr>
            <a:r>
              <a:rPr lang="ru-RU" dirty="0"/>
              <a:t>Полученное вычитается из весов этого нейрона.</a:t>
            </a:r>
          </a:p>
          <a:p>
            <a:pPr marL="514350" indent="-514350" algn="just">
              <a:buAutoNum type="arabicPeriod"/>
            </a:pPr>
            <a:r>
              <a:rPr lang="ru-RU" dirty="0"/>
              <a:t>Так делается от конечных нейронов к начальным.</a:t>
            </a:r>
          </a:p>
          <a:p>
            <a:pPr marL="0" indent="0" algn="just">
              <a:buNone/>
            </a:pPr>
            <a:r>
              <a:rPr lang="ru-RU" dirty="0"/>
              <a:t>Коэффициент скорости обучения гарантирует нам, что мы не проскочим минимум функции!</a:t>
            </a:r>
          </a:p>
        </p:txBody>
      </p:sp>
    </p:spTree>
    <p:extLst>
      <p:ext uri="{BB962C8B-B14F-4D97-AF65-F5344CB8AC3E}">
        <p14:creationId xmlns:p14="http://schemas.microsoft.com/office/powerpoint/2010/main" val="51520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B3F6-4B8C-E55A-2425-1F1524D7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51BCA-EFDD-3779-DF07-7ACE1BECB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Смысл градиентного спуска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1717E2-0BA5-C600-6C35-93134998D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49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Градиентный спуск – это метод, позволяющий так скорректировать нейросеть, чтобы функция ошибки была минимальной для всех входных данных.</a:t>
            </a:r>
          </a:p>
          <a:p>
            <a:pPr marL="0" indent="0" algn="just">
              <a:buNone/>
            </a:pPr>
            <a:r>
              <a:rPr lang="ru-RU" dirty="0"/>
              <a:t>Почему это работает?</a:t>
            </a:r>
          </a:p>
          <a:p>
            <a:pPr marL="514350" indent="-514350" algn="just">
              <a:buAutoNum type="arabicPeriod"/>
            </a:pPr>
            <a:r>
              <a:rPr lang="ru-RU" dirty="0"/>
              <a:t>Градиент – вектор, указывающий направление скорейшего роста функции ошибки (чем больше эта функция, тем хуже).</a:t>
            </a:r>
          </a:p>
          <a:p>
            <a:pPr marL="514350" indent="-514350" algn="just">
              <a:buAutoNum type="arabicPeriod"/>
            </a:pPr>
            <a:r>
              <a:rPr lang="ru-RU" dirty="0"/>
              <a:t>Двигаясь в противоположную от градиента сторону, движемся в строну наименьшего роста функции ошибки.</a:t>
            </a:r>
          </a:p>
          <a:p>
            <a:pPr marL="514350" indent="-514350" algn="just">
              <a:buAutoNum type="arabicPeriod"/>
            </a:pPr>
            <a:r>
              <a:rPr lang="ru-RU" dirty="0"/>
              <a:t>Домножение на 0.1 – 0.001 перед вычитанием позволяет не проскочить минимум функции ошибки.</a:t>
            </a:r>
          </a:p>
        </p:txBody>
      </p:sp>
    </p:spTree>
    <p:extLst>
      <p:ext uri="{BB962C8B-B14F-4D97-AF65-F5344CB8AC3E}">
        <p14:creationId xmlns:p14="http://schemas.microsoft.com/office/powerpoint/2010/main" val="1792499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535F-FD86-C964-153C-7E19890A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D7FCF-8DB3-08B8-E346-1C3F1F66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Сложности градиентного спуска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3C21E4-9329-C39B-6A24-44FCCB6D2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4973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ru-RU" dirty="0"/>
              <a:t>Иногда не совсем очевидно, как выполнять градиентный спуск.</a:t>
            </a:r>
          </a:p>
          <a:p>
            <a:pPr algn="just">
              <a:buFontTx/>
              <a:buChar char="-"/>
            </a:pPr>
            <a:r>
              <a:rPr lang="ru-RU" dirty="0"/>
              <a:t>Может оказаться так, что выбранная скорость обучения (0.1 – 0.001, на которое домножаем) приводит к тому, что мы перескакиваем минимум</a:t>
            </a:r>
            <a:r>
              <a:rPr lang="en-US" dirty="0"/>
              <a:t>;</a:t>
            </a:r>
            <a:endParaRPr lang="ru-RU" dirty="0"/>
          </a:p>
          <a:p>
            <a:pPr algn="just">
              <a:buFontTx/>
              <a:buChar char="-"/>
            </a:pPr>
            <a:r>
              <a:rPr lang="ru-RU" dirty="0"/>
              <a:t>При малых скоростях обучения вычисления могут проводиться очень долго</a:t>
            </a:r>
            <a:r>
              <a:rPr lang="en-US" dirty="0"/>
              <a:t>;</a:t>
            </a:r>
            <a:endParaRPr lang="ru-RU" dirty="0"/>
          </a:p>
          <a:p>
            <a:pPr algn="just">
              <a:buFontTx/>
              <a:buChar char="-"/>
            </a:pPr>
            <a:r>
              <a:rPr lang="ru-RU" dirty="0"/>
              <a:t>Для больших сетей (тысячи и миллионы нейронов) могут потребоваться огромные вычислительные мощности.</a:t>
            </a:r>
          </a:p>
        </p:txBody>
      </p:sp>
    </p:spTree>
    <p:extLst>
      <p:ext uri="{BB962C8B-B14F-4D97-AF65-F5344CB8AC3E}">
        <p14:creationId xmlns:p14="http://schemas.microsoft.com/office/powerpoint/2010/main" val="4021469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02B6-BF26-EDB0-AEEA-D4FC7B65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E9788-D458-66C6-1DDC-99C3D4D1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Используемая функция активации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707B70-C9F3-BEF6-E00D-49BD8C3A66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3497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Сначала определимся с функцией активации. Это будет </a:t>
                </a:r>
                <a:r>
                  <a:rPr lang="en-US" dirty="0"/>
                  <a:t>ReLU</a:t>
                </a:r>
                <a:r>
                  <a:rPr lang="ru-RU" dirty="0"/>
                  <a:t>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𝑅𝑒𝐿𝑈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Её производная равна: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𝑅𝑒𝐿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Это в разы упрощает процесс вычислений, так как в любой точке, большей нуля, производная будет равна единице!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ru-RU" dirty="0"/>
                  <a:t>Мы уже использовали </a:t>
                </a:r>
                <a:r>
                  <a:rPr lang="en-US" dirty="0"/>
                  <a:t>ReLU</a:t>
                </a:r>
                <a:r>
                  <a:rPr lang="ru-RU" dirty="0"/>
                  <a:t> при вычислении перцептрона, так как просто передавали дальше получившиеся суммы.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707B70-C9F3-BEF6-E00D-49BD8C3A66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34973"/>
              </a:xfrm>
              <a:blipFill>
                <a:blip r:embed="rId2"/>
                <a:stretch>
                  <a:fillRect l="-1217" t="-2059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993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C0ED7-EC97-0EF1-877B-EBFF7977B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D9C4F-B7B5-8905-1C7C-5024119E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Измерение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6DBB5E7-27D2-EBB5-6118-3DCCEED7F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3497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Имея функцию активации, матрицы весов и эталонные наборы входных и выходных векторов, по которым будет обучаться сеть, нужно определиться с функцией измерения ошибки.</a:t>
                </a:r>
              </a:p>
              <a:p>
                <a:pPr marL="0" indent="0" algn="just">
                  <a:buNone/>
                </a:pPr>
                <a:r>
                  <a:rPr lang="ru-RU" dirty="0"/>
                  <a:t>Пусть она примет следующий вид: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где </a:t>
                </a:r>
                <a:r>
                  <a:rPr lang="en-US" i="1" dirty="0"/>
                  <a:t>O</a:t>
                </a:r>
                <a:r>
                  <a:rPr lang="ru-RU" dirty="0"/>
                  <a:t> – результат работы сети, а </a:t>
                </a:r>
                <a:r>
                  <a:rPr lang="en-US" i="1" dirty="0"/>
                  <a:t>t</a:t>
                </a:r>
                <a:r>
                  <a:rPr lang="ru-RU" dirty="0"/>
                  <a:t> – ожидаемое значение.</a:t>
                </a:r>
              </a:p>
              <a:p>
                <a:pPr marL="0" indent="0" algn="just">
                  <a:buNone/>
                </a:pPr>
                <a:r>
                  <a:rPr lang="ru-RU" dirty="0"/>
                  <a:t>Вообще функция ошибки может быть любой метрикой, то есть формулой расчёта расстояния между тем, что имеем, и тем, что ожидаем.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6DBB5E7-27D2-EBB5-6118-3DCCEED7F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34973"/>
              </a:xfrm>
              <a:blipFill>
                <a:blip r:embed="rId2"/>
                <a:stretch>
                  <a:fillRect l="-1217" t="-2059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059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2326-2AAE-9E47-C033-4BE0C44E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7AB11-8964-501B-B0F3-CE5DA947F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на перцептроне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FAA5732-BF6E-111C-28E0-996D44000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860004" cy="473497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2400" dirty="0"/>
                  <a:t>Для удобства будем рассматривать наш перцептрон в качестве примера.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.5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0.3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  <a:p>
                <a:pPr marL="0" indent="0" algn="just">
                  <a:buNone/>
                </a:pPr>
                <a:r>
                  <a:rPr lang="ru-RU" sz="2400" dirty="0"/>
                  <a:t>Активация: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ReLU</m:t>
                    </m:r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4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2400" dirty="0">
                    <a:ea typeface="Cambria Math" panose="02040503050406030204" pitchFamily="18" charset="0"/>
                  </a:rPr>
                  <a:t>Ожидаемое: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ru-RU" sz="24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2400" dirty="0">
                    <a:ea typeface="Cambria Math" panose="02040503050406030204" pitchFamily="18" charset="0"/>
                  </a:rPr>
                  <a:t>Ошибка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1.84−1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u-RU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0.3528</m:t>
                    </m:r>
                  </m:oMath>
                </a14:m>
                <a:endParaRPr lang="ru-RU" sz="24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2400" dirty="0">
                    <a:ea typeface="Cambria Math" panose="02040503050406030204" pitchFamily="18" charset="0"/>
                  </a:rPr>
                  <a:t>Скорость обучения: 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endParaRPr lang="ru-RU" sz="24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FAA5732-BF6E-111C-28E0-996D44000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860004" cy="4734973"/>
              </a:xfrm>
              <a:blipFill>
                <a:blip r:embed="rId2"/>
                <a:stretch>
                  <a:fillRect l="-1422" t="-1802" r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83C8F6-ABB2-5A7B-49A9-C416F3E3A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04" y="1690688"/>
            <a:ext cx="3655596" cy="188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0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D0880-117A-59E5-8789-0A7B4748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D193C-9697-0D95-057F-70237C92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 после выходного слоя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A0900BC-9430-52A5-6CA1-80B347389B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670" y="3449475"/>
                <a:ext cx="2256192" cy="319647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A0900BC-9430-52A5-6CA1-80B347389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670" y="3449475"/>
                <a:ext cx="2256192" cy="31964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64337F-E8E4-D182-3A27-6BD2A5A0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04" y="1690688"/>
            <a:ext cx="3327862" cy="17178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308CAF-0EF0-79C7-6B00-B43ACEBD599C}"/>
                  </a:ext>
                </a:extLst>
              </p:cNvPr>
              <p:cNvSpPr txBox="1"/>
              <p:nvPr/>
            </p:nvSpPr>
            <p:spPr>
              <a:xfrm>
                <a:off x="847078" y="1690688"/>
                <a:ext cx="6778840" cy="2893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ea typeface="Cambria Math" panose="02040503050406030204" pitchFamily="18" charset="0"/>
                  </a:rPr>
                  <a:t>Градиент по выходному: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84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84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84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84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84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184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308CAF-0EF0-79C7-6B00-B43ACEBD5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78" y="1690688"/>
                <a:ext cx="6778840" cy="2893613"/>
              </a:xfrm>
              <a:prstGeom prst="rect">
                <a:avLst/>
              </a:prstGeom>
              <a:blipFill>
                <a:blip r:embed="rId4"/>
                <a:stretch>
                  <a:fillRect l="-809" t="-10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658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3E21-EA64-1051-9645-89015F55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F1AD2-5ABA-7F2C-5463-359322BF9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 после скрытого слоя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C8A1174-C7F9-6982-1001-C5FEA375ED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670" y="3449475"/>
                <a:ext cx="2256192" cy="319647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C8A1174-C7F9-6982-1001-C5FEA375ED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670" y="3449475"/>
                <a:ext cx="2256192" cy="31964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39CF1B-5B9D-125A-CD0E-8ECCA4902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04" y="1690688"/>
            <a:ext cx="3327862" cy="17178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CE808-B46B-3C6D-B178-29A996CA1BFA}"/>
                  </a:ext>
                </a:extLst>
              </p:cNvPr>
              <p:cNvSpPr txBox="1"/>
              <p:nvPr/>
            </p:nvSpPr>
            <p:spPr>
              <a:xfrm>
                <a:off x="847078" y="1690688"/>
                <a:ext cx="6707819" cy="3947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ea typeface="Cambria Math" panose="02040503050406030204" pitchFamily="18" charset="0"/>
                  </a:rPr>
                  <a:t>Градиент по скрытому: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Для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ru-RU" dirty="0">
                    <a:ea typeface="Cambria Math" panose="02040503050406030204" pitchFamily="18" charset="0"/>
                  </a:rPr>
                  <a:t>-того нейрона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(</a:t>
                </a:r>
                <a:r>
                  <a:rPr lang="ru-RU" dirty="0">
                    <a:ea typeface="Cambria Math" panose="02040503050406030204" pitchFamily="18" charset="0"/>
                  </a:rPr>
                  <a:t>после </a:t>
                </a:r>
                <a:r>
                  <a:rPr lang="en-US" dirty="0">
                    <a:ea typeface="Cambria Math" panose="02040503050406030204" pitchFamily="18" charset="0"/>
                  </a:rPr>
                  <a:t>ReLU)</a:t>
                </a:r>
                <a:r>
                  <a:rPr lang="ru-RU" dirty="0">
                    <a:ea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84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Для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ru-RU" dirty="0">
                    <a:ea typeface="Cambria Math" panose="02040503050406030204" pitchFamily="18" charset="0"/>
                  </a:rPr>
                  <a:t>-того нейрона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(</a:t>
                </a:r>
                <a:r>
                  <a:rPr lang="ru-RU" dirty="0">
                    <a:ea typeface="Cambria Math" panose="02040503050406030204" pitchFamily="18" charset="0"/>
                  </a:rPr>
                  <a:t>до </a:t>
                </a:r>
                <a:r>
                  <a:rPr lang="en-US" dirty="0">
                    <a:ea typeface="Cambria Math" panose="02040503050406030204" pitchFamily="18" charset="0"/>
                  </a:rPr>
                  <a:t>ReLU)</a:t>
                </a:r>
                <a:r>
                  <a:rPr lang="ru-RU" dirty="0">
                    <a:ea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(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</m:e>
                          </m:d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𝑜𝑢𝑡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𝑖𝑛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CE808-B46B-3C6D-B178-29A996CA1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78" y="1690688"/>
                <a:ext cx="6707819" cy="3947491"/>
              </a:xfrm>
              <a:prstGeom prst="rect">
                <a:avLst/>
              </a:prstGeom>
              <a:blipFill>
                <a:blip r:embed="rId4"/>
                <a:stretch>
                  <a:fillRect l="-818" t="-7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459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8DF5-9158-64C0-4531-31092F0C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452F6-A750-ED8E-7F36-D5CDFFAD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 после входного слоя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A2F769-4C40-B020-8652-1B7C729406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670" y="3449475"/>
                <a:ext cx="2256192" cy="319647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A2F769-4C40-B020-8652-1B7C72940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670" y="3449475"/>
                <a:ext cx="2256192" cy="31964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7C7599-4BCD-AE74-79C3-853660955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04" y="1690688"/>
            <a:ext cx="3327862" cy="17178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C4F3ED-3092-CF42-FF4E-5C6E4CFD2844}"/>
                  </a:ext>
                </a:extLst>
              </p:cNvPr>
              <p:cNvSpPr txBox="1"/>
              <p:nvPr/>
            </p:nvSpPr>
            <p:spPr>
              <a:xfrm>
                <a:off x="847078" y="1690688"/>
                <a:ext cx="6707819" cy="2995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ea typeface="Cambria Math" panose="02040503050406030204" pitchFamily="18" charset="0"/>
                  </a:rPr>
                  <a:t>Градиент по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Для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ru-RU" dirty="0">
                    <a:ea typeface="Cambria Math" panose="02040503050406030204" pitchFamily="18" charset="0"/>
                  </a:rPr>
                  <a:t>-того нейрона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(</a:t>
                </a:r>
                <a:r>
                  <a:rPr lang="ru-RU" dirty="0">
                    <a:ea typeface="Cambria Math" panose="02040503050406030204" pitchFamily="18" charset="0"/>
                  </a:rPr>
                  <a:t>после </a:t>
                </a:r>
                <a:r>
                  <a:rPr lang="en-US" dirty="0">
                    <a:ea typeface="Cambria Math" panose="02040503050406030204" pitchFamily="18" charset="0"/>
                  </a:rPr>
                  <a:t>ReLU)</a:t>
                </a:r>
                <a:r>
                  <a:rPr lang="ru-RU" dirty="0">
                    <a:ea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294 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1764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C4F3ED-3092-CF42-FF4E-5C6E4CFD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78" y="1690688"/>
                <a:ext cx="6707819" cy="2995885"/>
              </a:xfrm>
              <a:prstGeom prst="rect">
                <a:avLst/>
              </a:prstGeom>
              <a:blipFill>
                <a:blip r:embed="rId4"/>
                <a:stretch>
                  <a:fillRect l="-818" t="-10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370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AA1A7-65C6-305E-7611-0C05A994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E769F-B3D3-5E7C-A533-73728859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Обновление весов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FEC43D-1B5E-A266-D3E0-7B5267549B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670" y="3449475"/>
                <a:ext cx="2256192" cy="319647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0.3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FEC43D-1B5E-A266-D3E0-7B5267549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670" y="3449475"/>
                <a:ext cx="2256192" cy="31964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FB5FBA-6D47-68F5-E0C0-712F6B247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04" y="1690688"/>
            <a:ext cx="3327862" cy="17178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6AAF04-62C7-1FD1-18E0-88515CAD43F7}"/>
                  </a:ext>
                </a:extLst>
              </p:cNvPr>
              <p:cNvSpPr txBox="1"/>
              <p:nvPr/>
            </p:nvSpPr>
            <p:spPr>
              <a:xfrm>
                <a:off x="847078" y="1690688"/>
                <a:ext cx="6707819" cy="4073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ea typeface="Cambria Math" panose="02040503050406030204" pitchFamily="18" charset="0"/>
                  </a:rPr>
                  <a:t>Обновление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2.184​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1.512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0.5−0.2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184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0.3−0.1512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0.2816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488​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Обновление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: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−0.1×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0.21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0.294 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0.126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0.1764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21 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294 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1764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0.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979</m:t>
                              </m:r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9706</m:t>
                              </m:r>
                              <m:r>
                                <m:rPr>
                                  <m:nor/>
                                </m:rP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126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9823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В итоге имеем новые веса: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0.2816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488​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0.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979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9706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−2.0126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3.98236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6AAF04-62C7-1FD1-18E0-88515CAD4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78" y="1690688"/>
                <a:ext cx="6707819" cy="4073872"/>
              </a:xfrm>
              <a:prstGeom prst="rect">
                <a:avLst/>
              </a:prstGeom>
              <a:blipFill>
                <a:blip r:embed="rId4"/>
                <a:stretch>
                  <a:fillRect l="-818" t="-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44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68688-AAE4-7E68-973A-C02A5E759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29B9F-D27B-2087-3C63-CDC81A950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Пересчитаем сеть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EBA2D61-D7C0-A7DD-F6E8-E859EDE800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669" y="3449474"/>
                <a:ext cx="2987121" cy="3226533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0.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979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9706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−2.0126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3.98236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0.2816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488​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EBA2D61-D7C0-A7DD-F6E8-E859EDE80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669" y="3449474"/>
                <a:ext cx="2987121" cy="3226533"/>
              </a:xfrm>
              <a:blipFill>
                <a:blip r:embed="rId2"/>
                <a:stretch>
                  <a:fillRect t="-1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9CEF2F-2D2B-184B-1465-A5FBB314B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04" y="1690688"/>
            <a:ext cx="3327862" cy="171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58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EBCF9-2FFF-6DC8-BB77-1F993829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3631F-E869-6577-2723-2D9B702B5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Пересчитаем сеть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169A1F9-C10E-996E-9834-8EC07CD93F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84669" y="3449474"/>
                <a:ext cx="2987121" cy="3226533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979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9706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0126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98236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2816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488​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169A1F9-C10E-996E-9834-8EC07CD93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4669" y="3449474"/>
                <a:ext cx="2987121" cy="3226533"/>
              </a:xfrm>
              <a:blipFill>
                <a:blip r:embed="rId2"/>
                <a:stretch>
                  <a:fillRect t="-1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33AB84-3860-6BD4-6D5F-53F40FC6A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204" y="1690688"/>
            <a:ext cx="3327862" cy="17178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88FA31-B737-2D03-D021-10928D663C93}"/>
                  </a:ext>
                </a:extLst>
              </p:cNvPr>
              <p:cNvSpPr txBox="1"/>
              <p:nvPr/>
            </p:nvSpPr>
            <p:spPr>
              <a:xfrm>
                <a:off x="847078" y="1690688"/>
                <a:ext cx="6707819" cy="3249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Вход во второй слой: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979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9706</m:t>
                                </m:r>
                                <m:r>
                                  <m:rPr>
                                    <m:nor/>
                                  </m:rPr>
                                  <a:rPr lang="ru-RU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0126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98236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Результат нейросети: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5689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7813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5689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7813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/>
                        <m:t>1</m:t>
                      </m:r>
                      <m:r>
                        <m:rPr>
                          <m:nor/>
                        </m:rPr>
                        <a:rPr lang="en-US" dirty="0"/>
                        <m:t>.</m:t>
                      </m:r>
                      <m:r>
                        <m:rPr>
                          <m:nor/>
                        </m:rPr>
                        <a:rPr lang="en-US" dirty="0"/>
                        <m:t>8188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Старая ошибка: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u-RU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</m:t>
                    </m:r>
                    <m:r>
                      <m:rPr>
                        <m:nor/>
                      </m:rPr>
                      <a:rPr lang="ru-RU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528</m:t>
                    </m:r>
                  </m:oMath>
                </a14:m>
                <a:endParaRPr lang="ru-RU" b="1" dirty="0"/>
              </a:p>
              <a:p>
                <a:endParaRPr lang="ru-RU" dirty="0"/>
              </a:p>
              <a:p>
                <a:r>
                  <a:rPr lang="ru-RU" dirty="0"/>
                  <a:t>Новая ошибка: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1.8188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ru-RU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</m:t>
                    </m:r>
                    <m:r>
                      <m:rPr>
                        <m:nor/>
                      </m:rPr>
                      <a:rPr lang="ru-RU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3521672</m:t>
                    </m:r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88FA31-B737-2D03-D021-10928D663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78" y="1690688"/>
                <a:ext cx="6707819" cy="3249416"/>
              </a:xfrm>
              <a:prstGeom prst="rect">
                <a:avLst/>
              </a:prstGeom>
              <a:blipFill>
                <a:blip r:embed="rId4"/>
                <a:stretch>
                  <a:fillRect l="-818" t="-938" b="-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75D3C74-42C2-D6E3-92E1-6AF8DA1EBE81}"/>
              </a:ext>
            </a:extLst>
          </p:cNvPr>
          <p:cNvSpPr txBox="1"/>
          <p:nvPr/>
        </p:nvSpPr>
        <p:spPr>
          <a:xfrm>
            <a:off x="838200" y="4940104"/>
            <a:ext cx="79464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solidFill>
                  <a:srgbClr val="00B0F0"/>
                </a:solidFill>
              </a:rPr>
              <a:t>Ошибка сократилась уже во втором знаке после запятой!</a:t>
            </a:r>
          </a:p>
          <a:p>
            <a:pPr algn="just"/>
            <a:r>
              <a:rPr lang="ru-RU" sz="2400" dirty="0"/>
              <a:t>Если каждую эпоху обучения будет убывать </a:t>
            </a:r>
            <a:r>
              <a:rPr lang="en-US" sz="2400" dirty="0"/>
              <a:t>0.</a:t>
            </a:r>
            <a:r>
              <a:rPr lang="ru-RU" sz="2400" dirty="0"/>
              <a:t>0</a:t>
            </a:r>
            <a:r>
              <a:rPr lang="en-US" sz="2400" dirty="0"/>
              <a:t>2</a:t>
            </a:r>
            <a:r>
              <a:rPr lang="ru-RU" sz="2400" dirty="0"/>
              <a:t>… ошибки, то мы придём к оптимальному результату, примерно, через 7 с половиной эпох обучения.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249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0308-021B-25BA-43FE-2C5D8065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713DEB-5603-26BB-BA86-05D303518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86" y="446103"/>
            <a:ext cx="11748027" cy="596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69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E9FE-A4A6-F838-54CE-AB16D916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425866-F9EC-3826-A958-3C55210A5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375"/>
            <a:ext cx="1219200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086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49686-0AA2-2842-DE61-E4B8FE9C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Некоторые замечания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42442E-608B-2FA8-5F91-615CD9094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5" y="1544714"/>
            <a:ext cx="7776839" cy="394168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На слоях нейронов могут быть разные функции активации – тогда брать производные станет сложнее, однако такое вполне возможно.</a:t>
            </a:r>
          </a:p>
          <a:p>
            <a:pPr algn="just"/>
            <a:r>
              <a:rPr lang="ru-RU" dirty="0"/>
              <a:t>Можно применять разные метрики для вычисления ошибок, что приведёт к разным производным и, как следствие, разным градиентам и другим скоростям обучения.</a:t>
            </a:r>
          </a:p>
          <a:p>
            <a:pPr algn="just"/>
            <a:r>
              <a:rPr lang="ru-RU" dirty="0"/>
              <a:t>Можно прогонять сеть сразу через несколько обучающих примеров (у нас был только один), после чего вычислять среднюю ошибку и использовать её для коррекции весов.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FF5CC0-E1DD-68B0-6AA9-05AE312B8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099" y="474955"/>
            <a:ext cx="3149274" cy="5908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337E14-0CDA-2DA0-D6F6-21759A450274}"/>
              </a:ext>
            </a:extLst>
          </p:cNvPr>
          <p:cNvSpPr txBox="1"/>
          <p:nvPr/>
        </p:nvSpPr>
        <p:spPr>
          <a:xfrm>
            <a:off x="514905" y="5486399"/>
            <a:ext cx="7776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Программу, визуализирующую графики и объясняющую процесс работы нейросети можно скачать с репозитория </a:t>
            </a:r>
            <a:r>
              <a:rPr lang="en-US" sz="2000" dirty="0"/>
              <a:t>Github:</a:t>
            </a:r>
            <a:endParaRPr lang="ru-RU" sz="2000" dirty="0"/>
          </a:p>
          <a:p>
            <a:pPr algn="just"/>
            <a:r>
              <a:rPr lang="en-US" sz="2000" dirty="0"/>
              <a:t>https://github.com/Iwakawa-2173/neural_network</a:t>
            </a:r>
            <a:r>
              <a:rPr lang="en-US" sz="2000"/>
              <a:t>_sample/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83987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3D17-D1F9-A876-0C0F-060191E5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027A0-EDC2-6A9E-AAC9-3CE9CE06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теперь у нас есть?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FB191-EDCE-29A5-E12B-EB4B0E369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5039"/>
          </a:xfrm>
        </p:spPr>
        <p:txBody>
          <a:bodyPr/>
          <a:lstStyle/>
          <a:p>
            <a:pPr algn="just"/>
            <a:r>
              <a:rPr lang="ru-RU" dirty="0"/>
              <a:t>Мы можем проводить оценку точности работы сети;</a:t>
            </a:r>
            <a:endParaRPr lang="en-US" dirty="0"/>
          </a:p>
          <a:p>
            <a:pPr algn="just"/>
            <a:r>
              <a:rPr lang="ru-RU" dirty="0"/>
              <a:t>Мы можем вычислять градиент функции ошибки для нейронов;</a:t>
            </a:r>
          </a:p>
          <a:p>
            <a:pPr algn="just"/>
            <a:r>
              <a:rPr lang="ru-RU" dirty="0"/>
              <a:t>Мы можем обновлять веса</a:t>
            </a:r>
            <a:r>
              <a:rPr lang="en-US" dirty="0"/>
              <a:t>;</a:t>
            </a:r>
            <a:endParaRPr lang="ru-RU" dirty="0"/>
          </a:p>
          <a:p>
            <a:pPr algn="just"/>
            <a:r>
              <a:rPr lang="ru-RU" dirty="0"/>
              <a:t>Мы можем прогонять сеть так сколько захотим раз.</a:t>
            </a:r>
          </a:p>
        </p:txBody>
      </p:sp>
      <p:pic>
        <p:nvPicPr>
          <p:cNvPr id="5" name="Рисунок 4" descr="Изображение выглядит как текст, Шрифт, чек, снимок экрана">
            <a:extLst>
              <a:ext uri="{FF2B5EF4-FFF2-40B4-BE49-F238E27FC236}">
                <a16:creationId xmlns:a16="http://schemas.microsoft.com/office/drawing/2014/main" id="{3F1FE4B1-9C0C-3B4F-2978-C01B71D2E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77846">
            <a:off x="411719" y="4245837"/>
            <a:ext cx="4035504" cy="183827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Рисунок 6" descr="Изображение выглядит как текст, Шрифт, снимок экрана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C65981-32A8-166B-F8F1-EFDF5394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10072">
            <a:off x="3906030" y="4262298"/>
            <a:ext cx="2876606" cy="17583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Рисунок 8" descr="Изображение выглядит как текст, Шрифт, че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19E686-14AD-CD4F-7A03-BE09B7278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62360">
            <a:off x="6338586" y="3954361"/>
            <a:ext cx="3406655" cy="157846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Рисунок 10" descr="Изображение выглядит как текст, Шрифт, рукописный текс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1A3D80-F3FC-D3F1-E84D-4940A5E4C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66577">
            <a:off x="8616428" y="4568681"/>
            <a:ext cx="3077675" cy="19705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3460DB-E893-1167-F582-B7ED947F7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33613">
            <a:off x="9087431" y="3025064"/>
            <a:ext cx="2709645" cy="137590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BFFEF1-EB49-7D9C-A69C-E697D14454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3843">
            <a:off x="6924253" y="5582305"/>
            <a:ext cx="2035370" cy="103358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0077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1AD5E-D87E-9F66-B885-5FFC3C8FD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/>
          <a:lstStyle/>
          <a:p>
            <a:r>
              <a:rPr lang="ru-RU" dirty="0"/>
              <a:t>Небольшая пауза на отдых и вопросы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EA9DEF-9E93-1300-D295-1C95ABE65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304" y="1690688"/>
            <a:ext cx="4787391" cy="486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235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75403-BDFE-7DBC-0F24-872DCCBC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результаты</a:t>
            </a:r>
          </a:p>
        </p:txBody>
      </p:sp>
      <p:pic>
        <p:nvPicPr>
          <p:cNvPr id="4" name="Рисунок 3" descr="Изображение выглядит как текст, Шрифт, чек, снимок экрана">
            <a:extLst>
              <a:ext uri="{FF2B5EF4-FFF2-40B4-BE49-F238E27FC236}">
                <a16:creationId xmlns:a16="http://schemas.microsoft.com/office/drawing/2014/main" id="{997E66B3-AEDE-A4CF-714C-54A43941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98" y="1511515"/>
            <a:ext cx="4652763" cy="211945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Рисунок 4" descr="Изображение выглядит как текст, Шрифт, снимок экрана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742F49-65EF-4292-B3A8-4F2D98D13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206" y="1511515"/>
            <a:ext cx="3467328" cy="211945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Рисунок 5" descr="Изображение выглядит как текст, Шрифт, че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F0D089-DBC2-54BF-74D2-A2352E51E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98" y="3762762"/>
            <a:ext cx="4379414" cy="20291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Рисунок 6" descr="Изображение выглядит как текст, Шрифт, рукописный текс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201377-F386-45CC-E467-EE83733CC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661" y="3821384"/>
            <a:ext cx="3077675" cy="19705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21FA9C-CEA7-EAE3-A722-4575CA4A5B6B}"/>
              </a:ext>
            </a:extLst>
          </p:cNvPr>
          <p:cNvSpPr txBox="1"/>
          <p:nvPr/>
        </p:nvSpPr>
        <p:spPr>
          <a:xfrm>
            <a:off x="8452079" y="1511515"/>
            <a:ext cx="34673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/>
              <a:t>Производная сложной функции, как в случае со слоями, – это произведение производных вложенных функций и её самой</a:t>
            </a:r>
            <a:r>
              <a:rPr lang="en-US" dirty="0"/>
              <a:t>;</a:t>
            </a:r>
          </a:p>
          <a:p>
            <a:pPr marL="285750" indent="-285750" algn="just">
              <a:buFontTx/>
              <a:buChar char="-"/>
            </a:pPr>
            <a:r>
              <a:rPr lang="ru-RU" dirty="0"/>
              <a:t>Можно по-разному мерять ошибку</a:t>
            </a:r>
            <a:r>
              <a:rPr lang="en-US" dirty="0"/>
              <a:t>;</a:t>
            </a:r>
          </a:p>
          <a:p>
            <a:pPr marL="285750" indent="-285750" algn="just">
              <a:buFontTx/>
              <a:buChar char="-"/>
            </a:pPr>
            <a:r>
              <a:rPr lang="ru-RU" dirty="0"/>
              <a:t>Можно брать среднюю ошибку после прогона по нескольким примерам.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F9A8E3-A7F0-DA7E-CFF6-5E5C71F078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391" y="4488611"/>
            <a:ext cx="3947108" cy="20042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33175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56592-0034-DE92-2A1F-11BADF32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§ Начало объяснения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7E0B23-3452-71E6-D572-5D1D8A12B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Код написан на </a:t>
            </a:r>
            <a:r>
              <a:rPr lang="en-US" dirty="0"/>
              <a:t>Python</a:t>
            </a:r>
            <a:r>
              <a:rPr lang="ru-RU" dirty="0"/>
              <a:t> с применением библиотек. Нас интересует только математика происходящего, а не техника.</a:t>
            </a:r>
          </a:p>
          <a:p>
            <a:pPr marL="0" indent="0" algn="just">
              <a:buNone/>
            </a:pPr>
            <a:r>
              <a:rPr lang="ru-RU" dirty="0"/>
              <a:t>У нас уже достаточно знаний для того, чтобы прояснить всё происходящее пройдём по фрагментам программы и объясним их математику.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>
                <a:solidFill>
                  <a:srgbClr val="FF0000"/>
                </a:solidFill>
              </a:rPr>
              <a:t>ПРЕДУПРЕЖДЕНИЕ: ПОНЯТНОСТЬ НЕ ГАРАНТИРОВАНА!!!</a:t>
            </a:r>
          </a:p>
          <a:p>
            <a:pPr marL="0" indent="0" algn="just">
              <a:buNone/>
            </a:pPr>
            <a:r>
              <a:rPr lang="ru-RU" dirty="0"/>
              <a:t>Если верите, что вам это поможет, то прочтите все мантры, что знаете, перед тем, как мы продолжим.</a:t>
            </a:r>
          </a:p>
        </p:txBody>
      </p:sp>
    </p:spTree>
    <p:extLst>
      <p:ext uri="{BB962C8B-B14F-4D97-AF65-F5344CB8AC3E}">
        <p14:creationId xmlns:p14="http://schemas.microsoft.com/office/powerpoint/2010/main" val="23351501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C0803-50F9-4FF8-CE38-59554DAC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Импорт всего и инициализация </a:t>
            </a:r>
            <a:r>
              <a:rPr lang="en-US" dirty="0" err="1"/>
              <a:t>rnd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BF4BFD-1D8D-FE90-6DE4-10D0F535D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677" y="5330743"/>
            <a:ext cx="11088646" cy="130087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/>
              <a:t>Здесь просто импортируются все библиотеки и набор данных для тренировки и валидации нейронной сети, а также инициализируется генератор случайных чисел. Цель нейросети – предсказывать стоимость дома по входным параметрам.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646137-1DF6-3EAF-4047-B13F9B5E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1486774"/>
            <a:ext cx="11088647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3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F9E6C-1BB9-254A-F34B-6E9168E4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08B2D-12E4-DF3C-E277-B298D29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Нормализация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6A4D90-AB08-6E60-8BC0-8EE3391C6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677" y="5316296"/>
            <a:ext cx="11088646" cy="13255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Обучающие данные нормализуются для того, чтобы ограничить масштаб значений. Тестовые нормализуются к параметрам обучающих.</a:t>
            </a:r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610E69-8A55-CA21-046C-95A333A40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122" y="1325598"/>
            <a:ext cx="3561986" cy="400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094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878EF-5D4C-8D8E-214E-D8D9F52E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141F6-1142-4392-0E7F-12F69339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нейросети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6E3260-3574-F4A5-EB98-2403B03C9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677" y="5095783"/>
            <a:ext cx="11088646" cy="15460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Первый входной слой имеет 13 входов (по числу признаков) и 128 нейронов, используется </a:t>
            </a:r>
            <a:r>
              <a:rPr lang="en-US" dirty="0"/>
              <a:t>ReLU</a:t>
            </a:r>
            <a:r>
              <a:rPr lang="ru-RU" dirty="0"/>
              <a:t>. Второй слой имеет 128 с </a:t>
            </a:r>
            <a:r>
              <a:rPr lang="en-US" dirty="0"/>
              <a:t>ReLU</a:t>
            </a:r>
            <a:r>
              <a:rPr lang="ru-RU" dirty="0"/>
              <a:t>. Третий – 64 нейрона с </a:t>
            </a:r>
            <a:r>
              <a:rPr lang="en-US" dirty="0"/>
              <a:t>ReLU</a:t>
            </a:r>
            <a:r>
              <a:rPr lang="ru-RU" dirty="0"/>
              <a:t>, которые суммируются в выходной нейрон. Сеть полносвязная. Изначально, веса – случайные числа.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E03460-588E-C5BB-9A3B-2735BE6F9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73" y="1583041"/>
            <a:ext cx="10485050" cy="335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42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E1EFA-26B8-C36D-F2B7-28B4AEE5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обычного градиентного спуска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1CDCCC-8EB3-88A5-FCFA-F8F7C0D6C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Если использовать «наш метод оптимизации», то некоторые значения весов будут меняться слишком быстро, а некоторые иные – слишком медленно. </a:t>
            </a:r>
          </a:p>
          <a:p>
            <a:pPr marL="0" indent="0" algn="just">
              <a:buNone/>
            </a:pPr>
            <a:r>
              <a:rPr lang="ru-RU" dirty="0"/>
              <a:t>Также возможна ситуация, когда по разным направлениям мы имеем разную крутизну функции ошибки, что при общей для всех скорости обучения может привести к блужданию вокруг интересующей нас точки минимума.</a:t>
            </a:r>
          </a:p>
          <a:p>
            <a:pPr marL="0" indent="0" algn="just">
              <a:buNone/>
            </a:pPr>
            <a:r>
              <a:rPr lang="ru-RU" dirty="0"/>
              <a:t>Хотелось бы, в зависимости от предыдущих состояний, регулировать скорость движения вдоль градиента.</a:t>
            </a:r>
          </a:p>
        </p:txBody>
      </p:sp>
    </p:spTree>
    <p:extLst>
      <p:ext uri="{BB962C8B-B14F-4D97-AF65-F5344CB8AC3E}">
        <p14:creationId xmlns:p14="http://schemas.microsoft.com/office/powerpoint/2010/main" val="3824703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CDC52-4531-27D7-11A8-7EC1654B4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Оптимизатор </a:t>
            </a:r>
            <a:r>
              <a:rPr lang="en-US" dirty="0"/>
              <a:t>RMSProp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C38AE0-3D01-A229-1DAC-29456781B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41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Все эти проблемы решаются нормировкой градиента по следующим формулам: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2F5867-ADF6-7342-5032-EA3210BE2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088" y="2779732"/>
            <a:ext cx="6905824" cy="262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816DDA-C1BC-A82F-A680-0D5DEF0CCF76}"/>
              </a:ext>
            </a:extLst>
          </p:cNvPr>
          <p:cNvSpPr txBox="1"/>
          <p:nvPr/>
        </p:nvSpPr>
        <p:spPr>
          <a:xfrm>
            <a:off x="838200" y="5557421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Эпсилон – это малая константа для избежания делений на ноль.</a:t>
            </a:r>
          </a:p>
          <a:p>
            <a:r>
              <a:rPr lang="ru-RU" sz="2800" dirty="0"/>
              <a:t>Альфа – коэффициент затухания.</a:t>
            </a:r>
          </a:p>
        </p:txBody>
      </p:sp>
    </p:spTree>
    <p:extLst>
      <p:ext uri="{BB962C8B-B14F-4D97-AF65-F5344CB8AC3E}">
        <p14:creationId xmlns:p14="http://schemas.microsoft.com/office/powerpoint/2010/main" val="3448489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BE2BF-79C8-9D83-FE16-9E56FFFA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Чем хорош </a:t>
            </a:r>
            <a:r>
              <a:rPr lang="en-US" dirty="0"/>
              <a:t>RMSProp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8A39C9-C39D-4E0C-E776-9C229335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4018"/>
          </a:xfrm>
        </p:spPr>
        <p:txBody>
          <a:bodyPr/>
          <a:lstStyle/>
          <a:p>
            <a:pPr algn="just"/>
            <a:r>
              <a:rPr lang="ru-RU" dirty="0"/>
              <a:t>Позволяет учитывать предыдущие состояния</a:t>
            </a:r>
            <a:r>
              <a:rPr lang="en-US" dirty="0"/>
              <a:t>;</a:t>
            </a:r>
            <a:endParaRPr lang="ru-RU" dirty="0"/>
          </a:p>
          <a:p>
            <a:pPr algn="just"/>
            <a:r>
              <a:rPr lang="ru-RU" dirty="0"/>
              <a:t>Позволяет индивидуально для каждого направления подбирать скорость движения к минимуму.</a:t>
            </a:r>
          </a:p>
          <a:p>
            <a:pPr marL="0" indent="0" algn="just">
              <a:buNone/>
            </a:pPr>
            <a:r>
              <a:rPr lang="ru-RU" dirty="0"/>
              <a:t>Вследствие этих двух достоинств быстрее сходится к минимуму.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4532367-880E-D7CB-E02A-B1D81814E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088" y="3799643"/>
            <a:ext cx="6905824" cy="262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0392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283A1E-E6B2-3A8F-D8FF-6690B4C9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2B47CC6-DDDF-8AE9-87C1-125ABB70C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3590" cy="4770484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Среднеквадратичная ошибка для обучения считается по формуле: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– число примеров,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– настоящее значение,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dirty="0"/>
                  <a:t> - предсказанное.</a:t>
                </a:r>
              </a:p>
              <a:p>
                <a:pPr marL="0" indent="0" algn="just">
                  <a:buNone/>
                </a:pPr>
                <a:r>
                  <a:rPr lang="ru-RU" dirty="0"/>
                  <a:t>Средняя абсолютная: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Средняя абсолютная используется для удобства отслеживания изменений в точности работы сети.</a:t>
                </a:r>
              </a:p>
              <a:p>
                <a:pPr marL="0" indent="0" algn="just">
                  <a:buNone/>
                </a:pPr>
                <a:r>
                  <a:rPr lang="ru-RU" dirty="0">
                    <a:solidFill>
                      <a:srgbClr val="00B0F0"/>
                    </a:solidFill>
                  </a:rPr>
                  <a:t>ЭТИ МЕТРИКИ ПОЗВОЛЯЮТ МЕНЯТЬ ВЕСА РАЗ В НЕСКОЛЬКО ЭПОХ!!!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2B47CC6-DDDF-8AE9-87C1-125ABB70C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3590" cy="4770484"/>
              </a:xfrm>
              <a:blipFill>
                <a:blip r:embed="rId2"/>
                <a:stretch>
                  <a:fillRect l="-1171" t="-2810" r="-1171" b="-31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071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12CD7-17EF-5183-984D-07F6C5AF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EB3A0-9304-A317-ACE8-503D3A910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62" y="4851399"/>
            <a:ext cx="10980938" cy="174471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/>
              <a:t>Данные проходят 200 раз, веса обновляются через 16 эпох (помним </a:t>
            </a:r>
            <a:r>
              <a:rPr lang="en-US" dirty="0"/>
              <a:t>MSE</a:t>
            </a:r>
            <a:r>
              <a:rPr lang="ru-RU" dirty="0"/>
              <a:t> и </a:t>
            </a:r>
            <a:r>
              <a:rPr lang="en-US" dirty="0"/>
              <a:t>MSA</a:t>
            </a:r>
            <a:r>
              <a:rPr lang="ru-RU" dirty="0"/>
              <a:t>), 20% данных уходит на валидацию. Затем проводится оценка и делаются 20 предсказаний на основе входных данных.</a:t>
            </a:r>
            <a:endParaRPr lang="en-US" dirty="0"/>
          </a:p>
          <a:p>
            <a:pPr marL="0" indent="0" algn="just">
              <a:buNone/>
            </a:pPr>
            <a:r>
              <a:rPr lang="ru-RU" dirty="0"/>
              <a:t>Значения по умолчанию </a:t>
            </a:r>
            <a:r>
              <a:rPr lang="en-US" dirty="0"/>
              <a:t>RMSProp</a:t>
            </a:r>
            <a:r>
              <a:rPr lang="ru-RU" dirty="0"/>
              <a:t>: альфа 0.9, эпсилон 10</a:t>
            </a:r>
            <a:r>
              <a:rPr lang="en-US" dirty="0"/>
              <a:t>^</a:t>
            </a:r>
            <a:r>
              <a:rPr lang="ru-RU" dirty="0"/>
              <a:t>(-7), эта 0.001.</a:t>
            </a:r>
          </a:p>
        </p:txBody>
      </p:sp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B36CD8-DCF4-4B5A-4A39-B84F00131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91" y="1361138"/>
            <a:ext cx="7708018" cy="33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00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8BAD3-BF8E-6DE4-AD0A-1159F30D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3009A-5891-0E4A-03AE-019EA9E2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Формулы нейронной сети из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F6B627-BF06-7093-3F93-A8FD53A9A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862" y="1953087"/>
            <a:ext cx="10980938" cy="11363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Далее в коде идёт простая отрисовка графиков, потому перейдём к формулам.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3ABD21-044D-39AB-5C76-2F9BCC58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98" y="2882623"/>
            <a:ext cx="9516803" cy="1771897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F2058D02-E43A-D78D-E99A-CF07E9E4A9BD}"/>
              </a:ext>
            </a:extLst>
          </p:cNvPr>
          <p:cNvSpPr txBox="1">
            <a:spLocks/>
          </p:cNvSpPr>
          <p:nvPr/>
        </p:nvSpPr>
        <p:spPr>
          <a:xfrm>
            <a:off x="372862" y="4654520"/>
            <a:ext cx="10980938" cy="1136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dirty="0"/>
              <a:t>Кстати, результаты работы сети нужно денормировать, чтобы получить не в средних отклонениях, а в настоящих значениях.</a:t>
            </a:r>
          </a:p>
        </p:txBody>
      </p:sp>
    </p:spTree>
    <p:extLst>
      <p:ext uri="{BB962C8B-B14F-4D97-AF65-F5344CB8AC3E}">
        <p14:creationId xmlns:p14="http://schemas.microsoft.com/office/powerpoint/2010/main" val="34169864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EA42D-47FF-9637-9BAB-ECEB5D57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Полносвязный слой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889D60E-F4D5-B673-8AE6-BAE61974C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Для одного нейрона в слое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ru-RU" dirty="0"/>
                  <a:t>где: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взвешенная сумма для нейрона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 в слое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вес связи от нейрона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/>
                  <a:t> предыдущего слоя к нейрону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 текущего слоя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активация нейрона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/>
                  <a:t> из предыдущего слоя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bSup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смещение</a:t>
                </a:r>
                <a:r>
                  <a:rPr lang="en-US" dirty="0"/>
                  <a:t> </a:t>
                </a:r>
                <a:r>
                  <a:rPr lang="ru-RU" dirty="0"/>
                  <a:t>нейрона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ru-RU" dirty="0"/>
                  <a:t> в слое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количество нейронов в слое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889D60E-F4D5-B673-8AE6-BAE61974C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6157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F0831-8826-1375-3CB0-8F7C247A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Матричная форма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B5B2C4F-0E6D-1644-971A-7FD66F64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49209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r>
                        <a:rPr lang="ar-AE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ar-AE" b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ru-RU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/>
                  <a:t>где: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вектор взвешенных сумм слоя 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матрица весов слоя 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вектор активаций предыдущего слоя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ar-AE" dirty="0"/>
                  <a:t> — </a:t>
                </a:r>
                <a:r>
                  <a:rPr lang="ru-RU" dirty="0"/>
                  <a:t>вектор смещений слоя 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B5B2C4F-0E6D-1644-971A-7FD66F64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492099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6461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3CC25-3A2A-98A0-6CD9-2D3C79E9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F9C7F-89AB-8C09-CE73-7D30A9FB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Матричная форма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0E3EB53-6646-B11E-B43F-27FC82DC93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Слой 1 (128 нейронов):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ar-A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ar-AE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128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128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ar-A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/>
                  <a:t>Слой 2 (128 нейронов):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128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128</m:t>
                          </m:r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128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ar-A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/>
                  <a:t>Слой 3 (64 нейрона):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128</m:t>
                          </m:r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ar-A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/>
                  <a:t>Выходной слой (1 нейрон):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pred</m:t>
                          </m:r>
                        </m:sub>
                      </m:sSub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ar-AE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ar-AE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ar-A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0E3EB53-6646-B11E-B43F-27FC82DC93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611" b="-7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485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A0E1-DA60-406C-3269-8E8081A3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EE0CD-E2F5-7425-9AD1-5B6C2195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Оставшиеся формулы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E798A37-C038-C4F8-F9BA-1E7CEE8060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249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Производная MSE по весам выходного слоя: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𝑆𝐸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𝑡𝑟𝑢𝑒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Прямой проход: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E798A37-C038-C4F8-F9BA-1E7CEE8060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24938"/>
              </a:xfrm>
              <a:blipFill>
                <a:blip r:embed="rId2"/>
                <a:stretch>
                  <a:fillRect l="-1217" t="-4585" b="-60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466C40-0B3E-61C5-63D5-90A5B6041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166" y="3950563"/>
            <a:ext cx="4923668" cy="22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785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DAE16-099D-A0BD-FF6C-7DCDE8E5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Конец и 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0225EE-6B26-0537-B40A-82F35A267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К сожалению, вычисление сети с методом оптимизации </a:t>
            </a:r>
            <a:r>
              <a:rPr lang="en-US" dirty="0"/>
              <a:t>RMSProp</a:t>
            </a:r>
            <a:r>
              <a:rPr lang="ru-RU" dirty="0"/>
              <a:t> сложнее, чем кажется на первый взгляд. Этим можно заняться сейчас по формулам, рекуррентно меняя градиент.</a:t>
            </a:r>
          </a:p>
          <a:p>
            <a:pPr marL="0" indent="0" algn="just">
              <a:buNone/>
            </a:pPr>
            <a:r>
              <a:rPr lang="ru-RU" dirty="0"/>
              <a:t>Главное – получено общее представление о том, как работают нейронные сети.</a:t>
            </a:r>
          </a:p>
          <a:p>
            <a:pPr marL="0" indent="0" algn="just">
              <a:buNone/>
            </a:pPr>
            <a:r>
              <a:rPr lang="ru-RU" dirty="0"/>
              <a:t>Рассмотренный в коде перцептрон, фактически, ничем по смыслу не отличается от перцептрона-примера – различия только в числе входов и нейронов, а также том, что мы каждый раз делим градиент на коэффициент, получаемый из </a:t>
            </a:r>
            <a:r>
              <a:rPr lang="ru-RU" dirty="0" err="1"/>
              <a:t>замурыжной</a:t>
            </a:r>
            <a:r>
              <a:rPr lang="ru-RU" dirty="0"/>
              <a:t> формулы.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5577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BA8AE-0C9B-7AB6-5084-C6FF12B7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526" y="5163189"/>
            <a:ext cx="5464946" cy="1325563"/>
          </a:xfrm>
        </p:spPr>
        <p:txBody>
          <a:bodyPr/>
          <a:lstStyle/>
          <a:p>
            <a:r>
              <a:rPr lang="ru-RU" b="1" dirty="0"/>
              <a:t>Спасибо за внимание!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271905-8EB7-F810-7AAF-D8631572C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687" y="510512"/>
            <a:ext cx="72866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711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2862</Words>
  <Application>Microsoft Office PowerPoint</Application>
  <PresentationFormat>Широкоэкранный</PresentationFormat>
  <Paragraphs>335</Paragraphs>
  <Slides>56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Times New Roman</vt:lpstr>
      <vt:lpstr>Тема Office</vt:lpstr>
      <vt:lpstr>Нейронные сети</vt:lpstr>
      <vt:lpstr>План презентации</vt:lpstr>
      <vt:lpstr>§ Что такое нейронные сети?</vt:lpstr>
      <vt:lpstr>Как работает нейрон</vt:lpstr>
      <vt:lpstr>Пример нейросети</vt:lpstr>
      <vt:lpstr>Давайте просчитаем перцептрон!</vt:lpstr>
      <vt:lpstr>Линейная алгебра: матрицы и векторы!</vt:lpstr>
      <vt:lpstr>Презентация PowerPoint</vt:lpstr>
      <vt:lpstr>Сравните вычисления с операцией</vt:lpstr>
      <vt:lpstr>Матрицы в нейронных сетях</vt:lpstr>
      <vt:lpstr>Упражнение на вычисление</vt:lpstr>
      <vt:lpstr>Упражнение на вычисление</vt:lpstr>
      <vt:lpstr>Функции активации в нейронах</vt:lpstr>
      <vt:lpstr>Функции активации и их графики</vt:lpstr>
      <vt:lpstr>Немного нотации</vt:lpstr>
      <vt:lpstr>Найдите градиенты функций</vt:lpstr>
      <vt:lpstr>Найдите градиенты функций</vt:lpstr>
      <vt:lpstr>И найдём напоследок производную</vt:lpstr>
      <vt:lpstr>И найдём напоследок производную</vt:lpstr>
      <vt:lpstr>Чего мы сейчас достигли?</vt:lpstr>
      <vt:lpstr>Небольшая пауза на отдых и вопросы</vt:lpstr>
      <vt:lpstr>Полученные результаты</vt:lpstr>
      <vt:lpstr>§  То, чему пока нет нормальных объяснений</vt:lpstr>
      <vt:lpstr>Смысл градиентного спуска</vt:lpstr>
      <vt:lpstr>Сложности градиентного спуска</vt:lpstr>
      <vt:lpstr>Используемая функция активации</vt:lpstr>
      <vt:lpstr>Измерение ошибки</vt:lpstr>
      <vt:lpstr>Пример на перцептроне</vt:lpstr>
      <vt:lpstr>Градиент после выходного слоя</vt:lpstr>
      <vt:lpstr>Градиент после скрытого слоя</vt:lpstr>
      <vt:lpstr>Градиент после входного слоя</vt:lpstr>
      <vt:lpstr>Обновление весов</vt:lpstr>
      <vt:lpstr>Пересчитаем сеть</vt:lpstr>
      <vt:lpstr>Пересчитаем сеть</vt:lpstr>
      <vt:lpstr>Презентация PowerPoint</vt:lpstr>
      <vt:lpstr>Презентация PowerPoint</vt:lpstr>
      <vt:lpstr>Некоторые замечания</vt:lpstr>
      <vt:lpstr>Что теперь у нас есть?</vt:lpstr>
      <vt:lpstr>Небольшая пауза на отдых и вопросы</vt:lpstr>
      <vt:lpstr>Полученные результаты</vt:lpstr>
      <vt:lpstr>§ Начало объяснения кода</vt:lpstr>
      <vt:lpstr>Импорт всего и инициализация rnd</vt:lpstr>
      <vt:lpstr>Нормализация данных</vt:lpstr>
      <vt:lpstr>Создание нейросети</vt:lpstr>
      <vt:lpstr>Проблемы обычного градиентного спуска</vt:lpstr>
      <vt:lpstr>Оптимизатор RMSProp</vt:lpstr>
      <vt:lpstr>Чем хорош RMSProp?</vt:lpstr>
      <vt:lpstr>Метрики</vt:lpstr>
      <vt:lpstr>Обучение модели</vt:lpstr>
      <vt:lpstr>Формулы нейронной сети из кода</vt:lpstr>
      <vt:lpstr>Полносвязный слой</vt:lpstr>
      <vt:lpstr>Матричная форма</vt:lpstr>
      <vt:lpstr>Матричная форма</vt:lpstr>
      <vt:lpstr>Оставшиеся формулы</vt:lpstr>
      <vt:lpstr>Конец и итоги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2173</dc:creator>
  <cp:lastModifiedBy>2173</cp:lastModifiedBy>
  <cp:revision>610</cp:revision>
  <dcterms:created xsi:type="dcterms:W3CDTF">2025-12-18T17:08:41Z</dcterms:created>
  <dcterms:modified xsi:type="dcterms:W3CDTF">2025-12-19T19:13:22Z</dcterms:modified>
</cp:coreProperties>
</file>